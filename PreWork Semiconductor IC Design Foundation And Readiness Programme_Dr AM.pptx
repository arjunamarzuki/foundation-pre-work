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55" r:id="rId3"/>
    <p:sldId id="333" r:id="rId5"/>
    <p:sldId id="410" r:id="rId6"/>
    <p:sldId id="364" r:id="rId7"/>
    <p:sldId id="395" r:id="rId8"/>
    <p:sldId id="401" r:id="rId9"/>
    <p:sldId id="396" r:id="rId10"/>
    <p:sldId id="406" r:id="rId11"/>
    <p:sldId id="400" r:id="rId12"/>
    <p:sldId id="402" r:id="rId13"/>
    <p:sldId id="407" r:id="rId14"/>
    <p:sldId id="403" r:id="rId15"/>
    <p:sldId id="408" r:id="rId16"/>
    <p:sldId id="409" r:id="rId17"/>
    <p:sldId id="353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4" userDrawn="1">
          <p15:clr>
            <a:srgbClr val="A4A3A4"/>
          </p15:clr>
        </p15:guide>
        <p15:guide id="2" pos="2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883" autoAdjust="0"/>
  </p:normalViewPr>
  <p:slideViewPr>
    <p:cSldViewPr snapToGrid="0" showGuides="1">
      <p:cViewPr varScale="1">
        <p:scale>
          <a:sx n="63" d="100"/>
          <a:sy n="63" d="100"/>
        </p:scale>
        <p:origin x="1380" y="64"/>
      </p:cViewPr>
      <p:guideLst>
        <p:guide orient="horz" pos="2194"/>
        <p:guide pos="288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D0072-E82E-4C9C-9669-1EC63E42740B}" type="datetimeFigureOut">
              <a:rPr lang="en-US" smtClean="0"/>
            </a:fld>
            <a:endParaRPr lang="en-MY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28C76A-B062-4049-8A54-FB9AB25E1B49}" type="slidenum">
              <a:rPr lang="en-MY" smtClean="0"/>
            </a:fld>
            <a:endParaRPr lang="en-MY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28C76A-B062-4049-8A54-FB9AB25E1B49}" type="slidenum">
              <a:rPr lang="en-MY" smtClean="0"/>
            </a:fld>
            <a:endParaRPr lang="en-MY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spc="3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660E0-1378-4A19-9A1B-4309CFD5F9E6}" type="datetimeFigureOut">
              <a:rPr lang="en-MY" smtClean="0"/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8FFAD-A3D8-4151-AC9F-601C68C744B4}" type="slidenum">
              <a:rPr lang="en-MY" smtClean="0"/>
            </a:fld>
            <a:endParaRPr lang="en-MY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660E0-1378-4A19-9A1B-4309CFD5F9E6}" type="datetimeFigureOut">
              <a:rPr lang="en-MY" smtClean="0"/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8FFAD-A3D8-4151-AC9F-601C68C744B4}" type="slidenum">
              <a:rPr lang="en-MY" smtClean="0"/>
            </a:fld>
            <a:endParaRPr lang="en-MY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200" b="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 spc="3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660E0-1378-4A19-9A1B-4309CFD5F9E6}" type="datetimeFigureOut">
              <a:rPr lang="en-MY" smtClean="0"/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8FFAD-A3D8-4151-AC9F-601C68C744B4}" type="slidenum">
              <a:rPr lang="en-MY" smtClean="0"/>
            </a:fld>
            <a:endParaRPr lang="en-MY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660E0-1378-4A19-9A1B-4309CFD5F9E6}" type="datetimeFigureOut">
              <a:rPr lang="en-MY" smtClean="0"/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8FFAD-A3D8-4151-AC9F-601C68C744B4}" type="slidenum">
              <a:rPr lang="en-MY" smtClean="0"/>
            </a:fld>
            <a:endParaRPr lang="en-MY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365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94860" y="1713655"/>
            <a:ext cx="336042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660E0-1378-4A19-9A1B-4309CFD5F9E6}" type="datetimeFigureOut">
              <a:rPr lang="en-MY" smtClean="0"/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8FFAD-A3D8-4151-AC9F-601C68C744B4}" type="slidenum">
              <a:rPr lang="en-MY" smtClean="0"/>
            </a:fld>
            <a:endParaRPr lang="en-MY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660E0-1378-4A19-9A1B-4309CFD5F9E6}" type="datetimeFigureOut">
              <a:rPr lang="en-MY" smtClean="0"/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8FFAD-A3D8-4151-AC9F-601C68C744B4}" type="slidenum">
              <a:rPr lang="en-MY" smtClean="0"/>
            </a:fld>
            <a:endParaRPr lang="en-MY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660E0-1378-4A19-9A1B-4309CFD5F9E6}" type="datetimeFigureOut">
              <a:rPr lang="en-MY" smtClean="0"/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8FFAD-A3D8-4151-AC9F-601C68C744B4}" type="slidenum">
              <a:rPr lang="en-MY" smtClean="0"/>
            </a:fld>
            <a:endParaRPr lang="en-MY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660E0-1378-4A19-9A1B-4309CFD5F9E6}" type="datetimeFigureOut">
              <a:rPr lang="en-MY" smtClean="0"/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8FFAD-A3D8-4151-AC9F-601C68C744B4}" type="slidenum">
              <a:rPr lang="en-MY" smtClean="0"/>
            </a:fld>
            <a:endParaRPr lang="en-MY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660E0-1378-4A19-9A1B-4309CFD5F9E6}" type="datetimeFigureOut">
              <a:rPr lang="en-MY" smtClean="0"/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8FFAD-A3D8-4151-AC9F-601C68C744B4}" type="slidenum">
              <a:rPr lang="en-MY" smtClean="0"/>
            </a:fld>
            <a:endParaRPr lang="en-MY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660E0-1378-4A19-9A1B-4309CFD5F9E6}" type="datetimeFigureOut">
              <a:rPr lang="en-MY" smtClean="0"/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8FFAD-A3D8-4151-AC9F-601C68C744B4}" type="slidenum">
              <a:rPr lang="en-MY" smtClean="0"/>
            </a:fld>
            <a:endParaRPr lang="en-MY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660E0-1378-4A19-9A1B-4309CFD5F9E6}" type="datetimeFigureOut">
              <a:rPr lang="en-MY" smtClean="0"/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8FFAD-A3D8-4151-AC9F-601C68C744B4}" type="slidenum">
              <a:rPr lang="en-MY" smtClean="0"/>
            </a:fld>
            <a:endParaRPr lang="en-MY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D32660E0-1378-4A19-9A1B-4309CFD5F9E6}" type="datetimeFigureOut">
              <a:rPr lang="en-MY" smtClean="0"/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fld id="{5938FFAD-A3D8-4151-AC9F-601C68C744B4}" type="slidenum">
              <a:rPr lang="en-MY" smtClean="0"/>
            </a:fld>
            <a:endParaRPr lang="en-MY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spc="-7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anose="020B0604020202020204" pitchFamily="34" charset="0"/>
        <a:buChar char="•"/>
        <a:defRPr sz="2000" kern="1200" spc="1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thub.com/ArjunaMarzuki/Foundation-Pre-Work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/>
        </p:nvSpPr>
        <p:spPr>
          <a:xfrm>
            <a:off x="88265" y="2367280"/>
            <a:ext cx="8496300" cy="25996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200" b="1" kern="1200" spc="-7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MY" altLang="en-US" sz="5400" dirty="0"/>
              <a:t>Pre-Work</a:t>
            </a:r>
            <a:br>
              <a:rPr lang="en-MY" altLang="en-US" sz="5400" dirty="0"/>
            </a:br>
            <a:r>
              <a:rPr lang="en-MY" altLang="en-US" sz="5400" dirty="0"/>
              <a:t>Semiconductor IC Design </a:t>
            </a:r>
            <a:br>
              <a:rPr lang="en-MY" altLang="en-US" sz="5400" dirty="0"/>
            </a:br>
            <a:r>
              <a:rPr lang="en-MY" altLang="en-US" sz="5400" dirty="0"/>
              <a:t>Foundation And Readiness Programme</a:t>
            </a:r>
            <a:br>
              <a:rPr lang="en-MY" altLang="en-US" sz="5400" dirty="0"/>
            </a:br>
            <a:endParaRPr lang="en-MY" altLang="en-US" sz="2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150" y="365760"/>
            <a:ext cx="7269480" cy="481330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</a:t>
            </a:r>
            <a:endParaRPr lang="en-MY" dirty="0"/>
          </a:p>
        </p:txBody>
      </p:sp>
      <p:sp>
        <p:nvSpPr>
          <p:cNvPr id="8" name="TextBox 7"/>
          <p:cNvSpPr txBox="1"/>
          <p:nvPr/>
        </p:nvSpPr>
        <p:spPr>
          <a:xfrm>
            <a:off x="1012825" y="1094512"/>
            <a:ext cx="7360444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Underpinning knowledge and Understanding for SoC design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ASIC flow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Modules, Test and Mini Projects</a:t>
            </a:r>
            <a:endParaRPr lang="en-US" sz="2800" dirty="0"/>
          </a:p>
          <a:p>
            <a:endParaRPr lang="en-US" sz="2800" dirty="0"/>
          </a:p>
          <a:p>
            <a:endParaRPr lang="en-MY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260" y="853847"/>
            <a:ext cx="7269480" cy="481330"/>
          </a:xfrm>
        </p:spPr>
        <p:txBody>
          <a:bodyPr>
            <a:normAutofit fontScale="90000"/>
          </a:bodyPr>
          <a:lstStyle/>
          <a:p>
            <a:r>
              <a:rPr lang="en-US" dirty="0"/>
              <a:t>How does it make sense for Science POV</a:t>
            </a:r>
            <a:endParaRPr lang="en-MY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565" y="1335177"/>
            <a:ext cx="3612515" cy="246466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9333" t="31926" r="25444" b="7120"/>
          <a:stretch>
            <a:fillRect/>
          </a:stretch>
        </p:blipFill>
        <p:spPr>
          <a:xfrm>
            <a:off x="4438650" y="2289175"/>
            <a:ext cx="3434080" cy="262404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37260" y="5023396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Wave-Particle duality of Light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581025" y="1148080"/>
            <a:ext cx="5928995" cy="4725035"/>
            <a:chOff x="0" y="0"/>
            <a:chExt cx="5929354" cy="4725178"/>
          </a:xfrm>
        </p:grpSpPr>
        <p:sp>
          <p:nvSpPr>
            <p:cNvPr id="3" name="Oval 2"/>
            <p:cNvSpPr/>
            <p:nvPr/>
          </p:nvSpPr>
          <p:spPr>
            <a:xfrm>
              <a:off x="2071702" y="1510468"/>
              <a:ext cx="1928826" cy="128588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MY" sz="1800" kern="1200">
                  <a:solidFill>
                    <a:srgbClr val="000000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Final Design</a:t>
              </a:r>
              <a:endParaRPr lang="en-MY" sz="110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val 3"/>
            <p:cNvSpPr/>
            <p:nvPr/>
          </p:nvSpPr>
          <p:spPr>
            <a:xfrm>
              <a:off x="0" y="0"/>
              <a:ext cx="2071702" cy="128588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MY" sz="1800" kern="1200">
                  <a:solidFill>
                    <a:srgbClr val="000000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Technology</a:t>
              </a:r>
              <a:endParaRPr lang="en-MY" sz="110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4000528" y="10270"/>
              <a:ext cx="1928826" cy="128588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MY" sz="1800" kern="1200">
                  <a:solidFill>
                    <a:srgbClr val="000000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Circuit Topology</a:t>
              </a:r>
              <a:endParaRPr lang="en-MY" sz="110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2000264" y="3439294"/>
              <a:ext cx="2071702" cy="128588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MY" sz="1800" kern="1200">
                  <a:solidFill>
                    <a:srgbClr val="000000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Methodology</a:t>
              </a:r>
              <a:endParaRPr lang="en-MY" sz="110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" name="Straight Arrow Connector 6"/>
            <p:cNvCxnSpPr>
              <a:stCxn id="4" idx="5"/>
              <a:endCxn id="3" idx="1"/>
            </p:cNvCxnSpPr>
            <p:nvPr/>
          </p:nvCxnSpPr>
          <p:spPr>
            <a:xfrm>
              <a:off x="1768308" y="1097571"/>
              <a:ext cx="585864" cy="60121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>
              <a:stCxn id="5" idx="3"/>
              <a:endCxn id="3" idx="7"/>
            </p:cNvCxnSpPr>
            <p:nvPr/>
          </p:nvCxnSpPr>
          <p:spPr>
            <a:xfrm rot="5400000">
              <a:off x="3705058" y="1120841"/>
              <a:ext cx="590940" cy="56494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6" idx="0"/>
              <a:endCxn id="3" idx="4"/>
            </p:cNvCxnSpPr>
            <p:nvPr/>
          </p:nvCxnSpPr>
          <p:spPr>
            <a:xfrm rot="5400000" flipH="1" flipV="1">
              <a:off x="2714644" y="3117823"/>
              <a:ext cx="642942" cy="1588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15"/>
            <p:cNvSpPr txBox="1"/>
            <p:nvPr/>
          </p:nvSpPr>
          <p:spPr>
            <a:xfrm>
              <a:off x="2474335" y="3890416"/>
              <a:ext cx="1513840" cy="796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MY" sz="1800" b="1" kern="12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endParaRPr lang="en-MY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MY" sz="1800" b="1" kern="120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(EDA tools)</a:t>
              </a:r>
              <a:endParaRPr lang="en-MY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Rectangle 33"/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MY"/>
          </a:p>
        </p:txBody>
      </p:sp>
      <p:sp>
        <p:nvSpPr>
          <p:cNvPr id="37" name="Title 1"/>
          <p:cNvSpPr txBox="1"/>
          <p:nvPr/>
        </p:nvSpPr>
        <p:spPr>
          <a:xfrm>
            <a:off x="503040" y="359584"/>
            <a:ext cx="8640960" cy="86409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-7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Design Dimension</a:t>
            </a:r>
            <a:endParaRPr lang="en-MY" dirty="0"/>
          </a:p>
        </p:txBody>
      </p:sp>
      <p:sp>
        <p:nvSpPr>
          <p:cNvPr id="14" name="TextBox 13"/>
          <p:cNvSpPr txBox="1"/>
          <p:nvPr/>
        </p:nvSpPr>
        <p:spPr>
          <a:xfrm>
            <a:off x="5606714" y="2553457"/>
            <a:ext cx="284037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/>
              <a:t> One can foresee the “novelty” of the final design by knowing the level of the “maturity” of these three factors. </a:t>
            </a:r>
            <a:endParaRPr lang="en-MY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MY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/>
              <a:t>To “commercialize” an integrated circuit as a product, the level of maturity should be high. </a:t>
            </a:r>
            <a:endParaRPr lang="en-MY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MY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/>
              <a:t>The lack of maturity can be considered as research gaps for the researchers.</a:t>
            </a:r>
            <a:endParaRPr lang="en-MY" dirty="0"/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611822" y="6353175"/>
            <a:ext cx="75438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0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Copyright ®CRC PRESS. Permission required for reproduction or display.</a:t>
            </a:r>
            <a:r>
              <a:rPr lang="en-US" altLang="en-US" sz="1000" dirty="0"/>
              <a:t> </a:t>
            </a:r>
            <a:endParaRPr lang="en-US" alt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MY"/>
          </a:p>
        </p:txBody>
      </p:sp>
      <p:sp>
        <p:nvSpPr>
          <p:cNvPr id="37" name="Title 1"/>
          <p:cNvSpPr txBox="1"/>
          <p:nvPr/>
        </p:nvSpPr>
        <p:spPr>
          <a:xfrm>
            <a:off x="503040" y="359584"/>
            <a:ext cx="8640960" cy="86409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-7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ASIC Flow</a:t>
            </a:r>
            <a:endParaRPr lang="en-MY" dirty="0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696914" y="1790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MY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8437" y="795337"/>
            <a:ext cx="3667125" cy="52673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MY"/>
          </a:p>
        </p:txBody>
      </p:sp>
      <p:sp>
        <p:nvSpPr>
          <p:cNvPr id="37" name="Title 1"/>
          <p:cNvSpPr txBox="1"/>
          <p:nvPr/>
        </p:nvSpPr>
        <p:spPr>
          <a:xfrm>
            <a:off x="503040" y="359584"/>
            <a:ext cx="8640960" cy="86409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-7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ASIC Flow</a:t>
            </a:r>
            <a:endParaRPr lang="en-MY" dirty="0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696914" y="1790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MY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800" y="995362"/>
            <a:ext cx="4724400" cy="55911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MY"/>
          </a:p>
        </p:txBody>
      </p:sp>
      <p:sp>
        <p:nvSpPr>
          <p:cNvPr id="37" name="Title 1"/>
          <p:cNvSpPr txBox="1"/>
          <p:nvPr/>
        </p:nvSpPr>
        <p:spPr>
          <a:xfrm>
            <a:off x="503040" y="359584"/>
            <a:ext cx="8640960" cy="86409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-7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Frontend Flow</a:t>
            </a:r>
            <a:endParaRPr lang="en-MY" dirty="0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696914" y="1790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MY"/>
          </a:p>
        </p:txBody>
      </p:sp>
      <p:sp>
        <p:nvSpPr>
          <p:cNvPr id="7" name="TextBox 6"/>
          <p:cNvSpPr txBox="1"/>
          <p:nvPr/>
        </p:nvSpPr>
        <p:spPr>
          <a:xfrm>
            <a:off x="407790" y="5228272"/>
            <a:ext cx="733603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Top level simulator (</a:t>
            </a:r>
            <a:r>
              <a:rPr lang="en-US" dirty="0" err="1"/>
              <a:t>Matlab</a:t>
            </a:r>
            <a:r>
              <a:rPr lang="en-US" dirty="0"/>
              <a:t>/Simulink), etc.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hard-core IPs are analog or mixed-circuit–related IP, such as analogue-to-digital converter (ADC), digital-to-analogue converter (DAC), phase lock loop (PLL), and IO pads.</a:t>
            </a:r>
            <a:endParaRPr lang="en-MY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/>
              <a:t>IP Generator for RTL coding</a:t>
            </a:r>
            <a:endParaRPr lang="en-MY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/>
              <a:t>Synthesizable HDL Behaviour to gate level RTL</a:t>
            </a:r>
            <a:endParaRPr lang="en-MY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040" y="1011120"/>
            <a:ext cx="6393060" cy="40561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53931" y="1470839"/>
            <a:ext cx="231457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Partition the system </a:t>
            </a:r>
            <a:r>
              <a:rPr lang="en-MY" b="1" i="1" dirty="0"/>
              <a:t>task</a:t>
            </a:r>
            <a:r>
              <a:rPr lang="en-MY" dirty="0"/>
              <a:t> into the hardware and the software.</a:t>
            </a:r>
            <a:endParaRPr lang="en-MY" dirty="0"/>
          </a:p>
          <a:p>
            <a:r>
              <a:rPr lang="en-MY" dirty="0"/>
              <a:t>The hardware creates the platform to contain the overall</a:t>
            </a:r>
            <a:endParaRPr lang="en-MY" dirty="0"/>
          </a:p>
          <a:p>
            <a:r>
              <a:rPr lang="en-MY" dirty="0"/>
              <a:t>system, and the software runs on the given platform to</a:t>
            </a:r>
            <a:endParaRPr lang="en-MY" dirty="0"/>
          </a:p>
          <a:p>
            <a:r>
              <a:rPr lang="en-MY" dirty="0"/>
              <a:t>control the system. </a:t>
            </a:r>
            <a:endParaRPr lang="en-MY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MY"/>
          </a:p>
        </p:txBody>
      </p:sp>
      <p:sp>
        <p:nvSpPr>
          <p:cNvPr id="37" name="Title 1"/>
          <p:cNvSpPr txBox="1"/>
          <p:nvPr/>
        </p:nvSpPr>
        <p:spPr>
          <a:xfrm>
            <a:off x="503040" y="359584"/>
            <a:ext cx="8640960" cy="86409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-7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EDA Tools</a:t>
            </a:r>
            <a:endParaRPr lang="en-MY" dirty="0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696914" y="1790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MY"/>
          </a:p>
        </p:txBody>
      </p:sp>
      <p:pic>
        <p:nvPicPr>
          <p:cNvPr id="8" name="Picture 7"/>
          <p:cNvPicPr/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32" b="4251"/>
          <a:stretch>
            <a:fillRect/>
          </a:stretch>
        </p:blipFill>
        <p:spPr bwMode="auto">
          <a:xfrm>
            <a:off x="851932" y="1223681"/>
            <a:ext cx="6676627" cy="5197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MY"/>
          </a:p>
        </p:txBody>
      </p:sp>
      <p:sp>
        <p:nvSpPr>
          <p:cNvPr id="37" name="Title 1"/>
          <p:cNvSpPr txBox="1"/>
          <p:nvPr/>
        </p:nvSpPr>
        <p:spPr>
          <a:xfrm>
            <a:off x="503040" y="359584"/>
            <a:ext cx="8640960" cy="86409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-7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SoC-BBIC for 60 GHz Transceiver</a:t>
            </a:r>
            <a:endParaRPr lang="en-MY" dirty="0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696914" y="1790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MY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628601" y="1180129"/>
            <a:ext cx="4526056" cy="40798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7611" y="1293239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8051 IP?</a:t>
            </a:r>
            <a:endParaRPr lang="en-MY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258" y="1605560"/>
            <a:ext cx="3067050" cy="310450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84861" y="4699221"/>
            <a:ext cx="23145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1 </a:t>
            </a:r>
            <a:r>
              <a:rPr lang="en-MY" dirty="0" err="1"/>
              <a:t>KHz</a:t>
            </a:r>
            <a:r>
              <a:rPr lang="en-MY" dirty="0"/>
              <a:t> data rate. 900 MHz ISM Band.</a:t>
            </a:r>
            <a:endParaRPr lang="en-MY" dirty="0"/>
          </a:p>
        </p:txBody>
      </p:sp>
      <p:sp>
        <p:nvSpPr>
          <p:cNvPr id="10" name="TextBox 9"/>
          <p:cNvSpPr txBox="1"/>
          <p:nvPr/>
        </p:nvSpPr>
        <p:spPr>
          <a:xfrm>
            <a:off x="938407" y="5228272"/>
            <a:ext cx="675005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two microprocessors are implemented: one to handle MAC and the other to control the PHY. The sequential control program is more suitable to implement using software coding (</a:t>
            </a:r>
            <a:r>
              <a:rPr lang="en-MY" b="1" i="1" dirty="0"/>
              <a:t>Hardware accelerator?</a:t>
            </a:r>
            <a:r>
              <a:rPr lang="en-MY" dirty="0"/>
              <a:t>). Also, for the baseband processor, which needs high-density data processing in parallel, is more suitable to implement using hardware. </a:t>
            </a:r>
            <a:endParaRPr lang="en-MY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MY"/>
          </a:p>
        </p:txBody>
      </p:sp>
      <p:sp>
        <p:nvSpPr>
          <p:cNvPr id="37" name="Title 1"/>
          <p:cNvSpPr txBox="1"/>
          <p:nvPr/>
        </p:nvSpPr>
        <p:spPr>
          <a:xfrm>
            <a:off x="503040" y="359584"/>
            <a:ext cx="8640960" cy="86409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-7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BBP + Transceiver</a:t>
            </a:r>
            <a:endParaRPr lang="en-MY" dirty="0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696914" y="1790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MY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099" y="1329021"/>
            <a:ext cx="6102351" cy="40055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MY"/>
          </a:p>
        </p:txBody>
      </p:sp>
      <p:sp>
        <p:nvSpPr>
          <p:cNvPr id="37" name="Title 1"/>
          <p:cNvSpPr txBox="1"/>
          <p:nvPr/>
        </p:nvSpPr>
        <p:spPr>
          <a:xfrm>
            <a:off x="503040" y="359584"/>
            <a:ext cx="8640960" cy="86409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-7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BBP + Transceiver</a:t>
            </a:r>
            <a:endParaRPr lang="en-MY" dirty="0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696914" y="1790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MY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914" y="1160371"/>
            <a:ext cx="7523161" cy="41260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MY"/>
          </a:p>
        </p:txBody>
      </p:sp>
      <p:sp>
        <p:nvSpPr>
          <p:cNvPr id="37" name="Title 1"/>
          <p:cNvSpPr txBox="1"/>
          <p:nvPr/>
        </p:nvSpPr>
        <p:spPr>
          <a:xfrm>
            <a:off x="503040" y="359584"/>
            <a:ext cx="8640960" cy="86409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-7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Modules</a:t>
            </a:r>
            <a:endParaRPr lang="en-MY" dirty="0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696914" y="1790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MY"/>
          </a:p>
        </p:txBody>
      </p:sp>
      <p:sp>
        <p:nvSpPr>
          <p:cNvPr id="6" name="TextBox 5"/>
          <p:cNvSpPr txBox="1"/>
          <p:nvPr/>
        </p:nvSpPr>
        <p:spPr>
          <a:xfrm>
            <a:off x="1280516" y="1182231"/>
            <a:ext cx="7360444" cy="48320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Module 1: Review of Programming Concepts and Flows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Module 2: Digital Logic Fundamentals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Module 3: Digital Logic Design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Module 4: MOS Transistor and CMOS Fundamentals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n-NO" sz="2800" dirty="0"/>
              <a:t>Module 5: Verilog Coding Tutorials</a:t>
            </a:r>
            <a:endParaRPr lang="nn-NO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Module 6: Arm On-Demand Pre-Course Preparation</a:t>
            </a:r>
            <a:endParaRPr lang="en-US" sz="2800" dirty="0"/>
          </a:p>
          <a:p>
            <a:endParaRPr lang="en-MY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MY"/>
          </a:p>
        </p:txBody>
      </p:sp>
      <p:sp>
        <p:nvSpPr>
          <p:cNvPr id="37" name="Title 1"/>
          <p:cNvSpPr txBox="1"/>
          <p:nvPr/>
        </p:nvSpPr>
        <p:spPr>
          <a:xfrm>
            <a:off x="503040" y="359584"/>
            <a:ext cx="8640960" cy="86409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-7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Tests and Mini Projects</a:t>
            </a:r>
            <a:endParaRPr lang="en-MY" dirty="0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696914" y="1790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MY"/>
          </a:p>
        </p:txBody>
      </p:sp>
      <p:sp>
        <p:nvSpPr>
          <p:cNvPr id="6" name="TextBox 5"/>
          <p:cNvSpPr txBox="1"/>
          <p:nvPr/>
        </p:nvSpPr>
        <p:spPr>
          <a:xfrm>
            <a:off x="615634" y="1223680"/>
            <a:ext cx="7360444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Pre-test and Post-Test for each module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Mini-project for each group (5-member team) at the end of module 6. The mini-project should be carried to next training modules.</a:t>
            </a:r>
            <a:endParaRPr lang="en-US" sz="2800" dirty="0"/>
          </a:p>
          <a:p>
            <a:endParaRPr lang="en-MY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MY"/>
          </a:p>
        </p:txBody>
      </p:sp>
      <p:sp>
        <p:nvSpPr>
          <p:cNvPr id="37" name="Title 1"/>
          <p:cNvSpPr txBox="1"/>
          <p:nvPr/>
        </p:nvSpPr>
        <p:spPr>
          <a:xfrm>
            <a:off x="503040" y="359584"/>
            <a:ext cx="8640960" cy="86409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-7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GitHub</a:t>
            </a:r>
            <a:endParaRPr lang="en-MY" dirty="0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696914" y="1790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MY"/>
          </a:p>
        </p:txBody>
      </p:sp>
      <p:sp>
        <p:nvSpPr>
          <p:cNvPr id="6" name="TextBox 5"/>
          <p:cNvSpPr txBox="1"/>
          <p:nvPr/>
        </p:nvSpPr>
        <p:spPr>
          <a:xfrm>
            <a:off x="615634" y="1223680"/>
            <a:ext cx="7360444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hlinkClick r:id="rId1"/>
              </a:rPr>
              <a:t>https://github.com/ArjunaMarzuki/Foundation-Pre-Work</a:t>
            </a:r>
            <a:r>
              <a:rPr lang="en-US" sz="2800" dirty="0"/>
              <a:t> 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Refer to papers or articles for mini-project examples.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Download dsch2 and </a:t>
            </a:r>
            <a:r>
              <a:rPr lang="en-US" sz="2800" dirty="0" err="1"/>
              <a:t>microwind</a:t>
            </a:r>
            <a:r>
              <a:rPr lang="en-US" sz="2800" dirty="0"/>
              <a:t> for mini-projects and other related exercises.</a:t>
            </a:r>
            <a:endParaRPr lang="en-US" sz="2800" dirty="0"/>
          </a:p>
          <a:p>
            <a:endParaRPr lang="en-MY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271252"/>
            <a:ext cx="8229600" cy="116429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8000" b="1" dirty="0"/>
              <a:t>Thank You</a:t>
            </a:r>
            <a:endParaRPr lang="en-MY" sz="80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2271</Words>
  <Application>WPS Presentation</Application>
  <PresentationFormat>On-screen Show (4:3)</PresentationFormat>
  <Paragraphs>90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SimSun</vt:lpstr>
      <vt:lpstr>Wingdings</vt:lpstr>
      <vt:lpstr>Wingdings 2</vt:lpstr>
      <vt:lpstr>Calibri</vt:lpstr>
      <vt:lpstr>Times New Roman</vt:lpstr>
      <vt:lpstr>Microsoft YaHei</vt:lpstr>
      <vt:lpstr>Arial Unicode MS</vt:lpstr>
      <vt:lpstr>View</vt:lpstr>
      <vt:lpstr>PowerPoint 演示文稿</vt:lpstr>
      <vt:lpstr>Introduction</vt:lpstr>
      <vt:lpstr>How does it make sense for Science POV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cwbong</dc:creator>
  <cp:lastModifiedBy>Wan Azli Ismail</cp:lastModifiedBy>
  <cp:revision>432</cp:revision>
  <dcterms:created xsi:type="dcterms:W3CDTF">2019-01-17T02:43:00Z</dcterms:created>
  <dcterms:modified xsi:type="dcterms:W3CDTF">2026-10-25T15:00:25Z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2057-12.2.0.23206</vt:lpwstr>
  </property>
  <property fmtid="{D5CDD505-2E9C-101B-9397-08002B2CF9AE}" pid="3" name="ICV">
    <vt:lpwstr>F67F819C41C04134B6CDC0D6321A23EB_13</vt:lpwstr>
  </property>
</Properties>
</file>