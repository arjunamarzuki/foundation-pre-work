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60BCC0-B4CC-B155-BAD9-C6A0AADB94E1}" v="200" dt="2026-10-25T13:23:20.5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8sbjr68QEmwyVuQJ7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1YCFTyUaU5KxamG27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31520" y="1005840"/>
            <a:ext cx="7589520" cy="1508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PROGRAMMING</a:t>
            </a:r>
          </a:p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7589520" cy="5486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2400" b="0">
                <a:solidFill>
                  <a:srgbClr val="C3DCF0"/>
                </a:solidFill>
                <a:latin typeface="Aptos"/>
              </a:defRPr>
            </a:pPr>
            <a:r>
              <a:t>for IC Design &amp; EDA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57600"/>
            <a:ext cx="7955279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0B041"/>
                </a:solidFill>
                <a:latin typeface="Aptos"/>
              </a:defRPr>
            </a:pPr>
            <a:r>
              <a:t>2-Hour Training Module  |  Python-based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786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rPr dirty="0"/>
              <a:t>Module</a:t>
            </a:r>
            <a:r>
              <a:rPr lang="en-US" dirty="0"/>
              <a:t> 1 </a:t>
            </a:r>
            <a:r>
              <a:rPr dirty="0"/>
              <a:t>at a glance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669AA"/>
                </a:solidFill>
                <a:latin typeface="Aptos"/>
              </a:defRPr>
            </a:pPr>
            <a:r>
              <a:t>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881360" cy="480060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Purpose: refresh programming skills before hardware-related programming.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Context: scripts help automate repetitive tasks in IC design and EDA environments.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Approach: short explanations, Python demonstrations, guided exercises, and a final mini-project.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Prerequisites: basic computer use; no prior Python experience required.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669AA"/>
                </a:solidFill>
                <a:latin typeface="Aptos"/>
              </a:defRPr>
            </a:pPr>
            <a:r>
              <a:t>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881360" cy="3656386"/>
          </a:xfrm>
          <a:prstGeom prst="rect">
            <a:avLst/>
          </a:prstGeom>
          <a:noFill/>
        </p:spPr>
        <p:txBody>
          <a:bodyPr wrap="square" lIns="91440" tIns="73152" rIns="91440" bIns="73152" anchor="t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rPr dirty="0"/>
              <a:t>Recognize variables, data types, operators, conditions, loops, and functions.</a:t>
            </a:r>
            <a:endParaRPr lang="en-US" dirty="0"/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rPr dirty="0"/>
              <a:t>Read and modify a short Python program.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rPr dirty="0"/>
              <a:t>Identify common syntax, runtime, and logical errors.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rPr dirty="0"/>
              <a:t>Build a simple design-parameter checker using simulated data.</a:t>
            </a:r>
            <a:endParaRPr lang="en-US" dirty="0"/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rPr lang="en-US" sz="2100" dirty="0"/>
              <a:t>module 1 test</a:t>
            </a:r>
            <a:br>
              <a:rPr lang="en-US" sz="2100" dirty="0"/>
            </a:br>
            <a:r>
              <a:rPr lang="en-US" sz="2100" dirty="0">
                <a:hlinkClick r:id="rId2" tooltip="https://forms.gle/8sbjr68qemwyvuqj7"/>
              </a:rPr>
              <a:t>https://forms.gle/8sbjr68QEmwyVuQJ7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t>Why programming matters in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669AA"/>
                </a:solidFill>
                <a:latin typeface="Aptos"/>
              </a:defRPr>
            </a:pPr>
            <a:r>
              <a:t>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881360" cy="480060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Automate repeatable command sequences and reduce manual effort.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Process reports, extract metrics, and check parameter values.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Run consistent checks across multiple blocks or design configurations.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Programming concepts transfer across languages such as Python, Tcl, and shell scripting.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Important: these examples demonstrate logic only; they do not run real EDA tools.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t>Variables, data types &amp; 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669AA"/>
                </a:solidFill>
                <a:latin typeface="Aptos"/>
              </a:defRPr>
            </a:pPr>
            <a:r>
              <a:t>PYTHON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4800600" cy="3256276"/>
          </a:xfrm>
          <a:prstGeom prst="rect">
            <a:avLst/>
          </a:prstGeom>
          <a:noFill/>
        </p:spPr>
        <p:txBody>
          <a:bodyPr wrap="square" lIns="91440" tIns="73152" rIns="91440" bIns="73152" anchor="t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rPr dirty="0"/>
              <a:t>Variable: a named reference to a value.</a:t>
            </a:r>
            <a:r>
              <a:rPr lang="en-US" dirty="0"/>
              <a:t> </a:t>
            </a:r>
            <a:r>
              <a:rPr lang="en-US" dirty="0" err="1"/>
              <a:t>Eg.</a:t>
            </a:r>
            <a:r>
              <a:rPr lang="en-US" dirty="0"/>
              <a:t> </a:t>
            </a:r>
            <a:r>
              <a:rPr lang="en-US" dirty="0" err="1"/>
              <a:t>design_name</a:t>
            </a:r>
            <a:r>
              <a:rPr lang="en-US" dirty="0"/>
              <a:t>, </a:t>
            </a:r>
            <a:r>
              <a:rPr lang="en-US" dirty="0" err="1"/>
              <a:t>cell_count</a:t>
            </a:r>
            <a:r>
              <a:rPr lang="en-US" dirty="0"/>
              <a:t>, </a:t>
            </a:r>
            <a:r>
              <a:rPr lang="en-US" dirty="0" err="1"/>
              <a:t>clock_mhz</a:t>
            </a:r>
            <a:r>
              <a:rPr lang="en-US" dirty="0"/>
              <a:t> and design ready.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rPr dirty="0"/>
              <a:t>Common types: </a:t>
            </a:r>
            <a:r>
              <a:rPr lang="en-US" dirty="0"/>
              <a:t>integer</a:t>
            </a:r>
            <a:r>
              <a:rPr dirty="0"/>
              <a:t>, </a:t>
            </a:r>
            <a:r>
              <a:rPr lang="en-US" dirty="0"/>
              <a:t>float</a:t>
            </a:r>
            <a:r>
              <a:rPr dirty="0"/>
              <a:t>, </a:t>
            </a:r>
            <a:r>
              <a:rPr lang="en-US" dirty="0"/>
              <a:t>string</a:t>
            </a:r>
            <a:r>
              <a:rPr dirty="0"/>
              <a:t>, </a:t>
            </a:r>
            <a:r>
              <a:rPr lang="en-US" dirty="0" err="1"/>
              <a:t>boolean</a:t>
            </a:r>
            <a:r>
              <a:rPr dirty="0"/>
              <a:t>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Operators: arithmetic (+, -, *, /), comparison (&gt;, ==, !=), logical (and, or, not).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Use meaningful names and check units.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rPr lang="en-US" dirty="0">
                <a:ea typeface="+mn-lt"/>
                <a:cs typeface="+mn-lt"/>
              </a:rPr>
              <a:t>print-a built-in function, take value (from the </a:t>
            </a:r>
            <a:r>
              <a:rPr lang="en-US">
                <a:ea typeface="+mn-lt"/>
                <a:cs typeface="+mn-lt"/>
              </a:rPr>
              <a:t>variable)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0" y="1463040"/>
            <a:ext cx="5806440" cy="3840480"/>
          </a:xfrm>
          <a:prstGeom prst="roundRect">
            <a:avLst/>
          </a:prstGeom>
          <a:solidFill>
            <a:srgbClr val="181F2A"/>
          </a:solidFill>
          <a:ln>
            <a:solidFill>
              <a:srgbClr val="18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33872" y="1536192"/>
            <a:ext cx="5477255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009691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33872" y="1810512"/>
            <a:ext cx="5477255" cy="3401568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design_name = "Core_Block"</a:t>
            </a:r>
          </a:p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cell_count = 1200</a:t>
            </a:r>
          </a:p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clock_mhz = 500.0</a:t>
            </a:r>
          </a:p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design_ready = True</a:t>
            </a:r>
          </a:p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print(design_name)</a:t>
            </a:r>
          </a:p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print(cell_count &gt; 1000)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15000"/>
            <a:ext cx="1078992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669AA"/>
                </a:solidFill>
                <a:latin typeface="Aptos"/>
              </a:defRPr>
            </a:pPr>
            <a:r>
              <a:t>Quick check: What data type is clock_mhz? What does cell_count &gt; 1000 return?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t>Guided practice: work with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669AA"/>
                </a:solidFill>
                <a:latin typeface="Aptos"/>
              </a:defRPr>
            </a:pPr>
            <a:r>
              <a:t>PYTHON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82880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09691"/>
                </a:solidFill>
                <a:latin typeface="Aptos"/>
              </a:defRPr>
            </a:pPr>
            <a:r>
              <a:t>Try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754880" cy="347472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Create a variable for a block name.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Store the number of cells and a clock frequency.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Compare the cell count with a threshold of 1,000.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Predict the output before running the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508760"/>
            <a:ext cx="5715000" cy="3291840"/>
          </a:xfrm>
          <a:prstGeom prst="roundRect">
            <a:avLst/>
          </a:prstGeom>
          <a:solidFill>
            <a:srgbClr val="181F2A"/>
          </a:solidFill>
          <a:ln>
            <a:solidFill>
              <a:srgbClr val="18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33872" y="1581912"/>
            <a:ext cx="5385816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009691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33872" y="1856231"/>
            <a:ext cx="5385816" cy="2852928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block_name = "ALU"</a:t>
            </a:r>
          </a:p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cell_count = 850</a:t>
            </a:r>
          </a:p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clock_mhz = 400.0</a:t>
            </a:r>
          </a:p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print("Block:", block_name)</a:t>
            </a:r>
          </a:p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print("Large block?", cell_count &gt; 1000)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5074920"/>
            <a:ext cx="530352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9691"/>
                </a:solidFill>
                <a:latin typeface="Aptos"/>
              </a:defRPr>
            </a:pPr>
            <a:r>
              <a:t>Expected result for “Large block?”: False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t>Conditional statements: make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669AA"/>
                </a:solidFill>
                <a:latin typeface="Aptos"/>
              </a:defRPr>
            </a:pPr>
            <a:r>
              <a:t>CONTROL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4846320" cy="411480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if runs a block when a condition is true.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elif checks another condition if earlier conditions are false.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else handles the remaining case.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Indentation defines which statements belong to each branch.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417320"/>
            <a:ext cx="5852160" cy="4206240"/>
          </a:xfrm>
          <a:prstGeom prst="roundRect">
            <a:avLst/>
          </a:prstGeom>
          <a:solidFill>
            <a:srgbClr val="181F2A"/>
          </a:solidFill>
          <a:ln>
            <a:solidFill>
              <a:srgbClr val="18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33872" y="1490472"/>
            <a:ext cx="5522976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009691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33872" y="1764792"/>
            <a:ext cx="5522976" cy="3767327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timing_slack = -0.05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if timing_slack &gt; 0: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print("Positive timing margin")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elif timing_slack == 0: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print("No timing margin")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else: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print("Timing violation")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06440"/>
            <a:ext cx="1078992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F6E7D"/>
                </a:solidFill>
                <a:latin typeface="Aptos"/>
              </a:defRPr>
            </a:pPr>
            <a:r>
              <a:t>Simplified teaching example only; real timing sign-off depends on constraints and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t>Practice: classify timing slack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669AA"/>
                </a:solidFill>
                <a:latin typeface="Aptos"/>
              </a:defRPr>
            </a:pPr>
            <a:r>
              <a:t>CONTROL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78992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232D37"/>
                </a:solidFill>
                <a:latin typeface="Aptos"/>
              </a:defRPr>
            </a:pPr>
            <a:r>
              <a:t>Modify the value of timing_slack and predict the message.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6766560" cy="3566160"/>
          </a:xfrm>
          <a:prstGeom prst="roundRect">
            <a:avLst/>
          </a:prstGeom>
          <a:solidFill>
            <a:srgbClr val="181F2A"/>
          </a:solidFill>
          <a:ln>
            <a:solidFill>
              <a:srgbClr val="18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2130552"/>
            <a:ext cx="6437376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009691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404872"/>
            <a:ext cx="6437376" cy="3127248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timing_slack = 0.0  # Try 0.15, 0.0, and -0.05</a:t>
            </a:r>
          </a:p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if timing_slack &gt; 0:</a:t>
            </a:r>
          </a:p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    print("Positive timing margin")</a:t>
            </a:r>
          </a:p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elif timing_slack == 0:</a:t>
            </a:r>
          </a:p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    print("No timing margin")</a:t>
            </a:r>
          </a:p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else:</a:t>
            </a:r>
          </a:p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    print("Timing violation")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286000"/>
            <a:ext cx="3474720" cy="283464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0.15 → Positive timing margin</a:t>
            </a:r>
          </a:p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0.0 → No timing margin</a:t>
            </a:r>
          </a:p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-0.05 → Timing violation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t>Loops: repeat work efficiently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669AA"/>
                </a:solidFill>
                <a:latin typeface="Aptos"/>
              </a:defRPr>
            </a:pPr>
            <a:r>
              <a:t>CONTROL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4754880" cy="429768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for: iterate over items in a sequence.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while: repeat while a condition remains true.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Update loop-control variables to avoid infinite loops.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Typical pattern: process each design block using the same steps.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371600"/>
            <a:ext cx="5897880" cy="4480560"/>
          </a:xfrm>
          <a:prstGeom prst="roundRect">
            <a:avLst/>
          </a:prstGeom>
          <a:solidFill>
            <a:srgbClr val="181F2A"/>
          </a:solidFill>
          <a:ln>
            <a:solidFill>
              <a:srgbClr val="18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42431" y="1444752"/>
            <a:ext cx="5568696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009691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42431" y="1719072"/>
            <a:ext cx="5568696" cy="4041648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blocks = ["CPU", "Memory", "Controller"]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for block in blocks: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    print("Checking:", block)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attempt = 1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while attempt &lt;= 3: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    print("Run", attempt)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    attempt +=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t>Practice: automate repeated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669AA"/>
                </a:solidFill>
                <a:latin typeface="Aptos"/>
              </a:defRPr>
            </a:pPr>
            <a:r>
              <a:t>CONTROL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37160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09691"/>
                </a:solidFill>
                <a:latin typeface="Aptos"/>
              </a:defRPr>
            </a:pPr>
            <a:r>
              <a:t>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572000" cy="347472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Create a list containing five block names.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Use a for loop to print “Checking &lt;block&gt;”.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Optional: add a counter to number each check.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Explain how a loop avoids duplicated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554480"/>
            <a:ext cx="5897880" cy="3383280"/>
          </a:xfrm>
          <a:prstGeom prst="roundRect">
            <a:avLst/>
          </a:prstGeom>
          <a:solidFill>
            <a:srgbClr val="181F2A"/>
          </a:solidFill>
          <a:ln>
            <a:solidFill>
              <a:srgbClr val="18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42431" y="1627632"/>
            <a:ext cx="5568696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009691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42431" y="1901952"/>
            <a:ext cx="5568696" cy="2944368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blocks = ["CPU", "ALU", "Cache",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      "DMA", "Controller"]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for number, block in enumerate(blocks, start=1):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print(number, "Checking", block)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t>Functions: reusable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669AA"/>
                </a:solidFill>
                <a:latin typeface="Aptos"/>
              </a:defRPr>
            </a:pPr>
            <a:r>
              <a:t>PYTHON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4663440" cy="420624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Define a function with def.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Parameters receive inputs; return sends a result back.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Functions make code easier to test, reuse, and maintain.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Use clear names that describe the task.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508760"/>
            <a:ext cx="5989320" cy="3749039"/>
          </a:xfrm>
          <a:prstGeom prst="roundRect">
            <a:avLst/>
          </a:prstGeom>
          <a:solidFill>
            <a:srgbClr val="181F2A"/>
          </a:solidFill>
          <a:ln>
            <a:solidFill>
              <a:srgbClr val="18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50992" y="1581912"/>
            <a:ext cx="5660136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009691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50992" y="1856231"/>
            <a:ext cx="5660136" cy="3310127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def classify_design(cell_count):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if cell_count &gt; 1000: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    return "Large design"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return "Small design"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result = classify_design(1200)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print(result)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t>Read, trace &amp; modify source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669AA"/>
                </a:solidFill>
                <a:latin typeface="Aptos"/>
              </a:defRPr>
            </a:pPr>
            <a:r>
              <a:t>CODE COMPREHENSION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57200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09691"/>
                </a:solidFill>
                <a:latin typeface="Aptos"/>
              </a:defRPr>
            </a:pPr>
            <a:r>
              <a:t>Follow the execution order: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389120" cy="3749039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1. Read variable assignments.</a:t>
            </a:r>
          </a:p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2. Find the function definition.</a:t>
            </a:r>
          </a:p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3. Trace the function call and arguments.</a:t>
            </a:r>
          </a:p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4. Follow the condition that evaluates true.</a:t>
            </a:r>
          </a:p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5. Predict output, run, then compare.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325880"/>
            <a:ext cx="6263640" cy="4480560"/>
          </a:xfrm>
          <a:prstGeom prst="roundRect">
            <a:avLst/>
          </a:prstGeom>
          <a:solidFill>
            <a:srgbClr val="181F2A"/>
          </a:solidFill>
          <a:ln>
            <a:solidFill>
              <a:srgbClr val="18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76672" y="1399032"/>
            <a:ext cx="5934455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009691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6672" y="1673352"/>
            <a:ext cx="5934455" cy="4041648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def report_design(name, count):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    print("Design:", name)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    print("Cell count:", count)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    if count &gt; 1000: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        print("Category: Large")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    else: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        print("Category: Small")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report_design("Block_A", 800)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t>Debugging: find and fix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669AA"/>
                </a:solidFill>
                <a:latin typeface="Aptos"/>
              </a:defRPr>
            </a:pPr>
            <a:r>
              <a:t>CODE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5029200" cy="438912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Syntax error: code breaks language rules (e.g., missing colon).</a:t>
            </a:r>
          </a:p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Runtime error: problem occurs while the program runs.</a:t>
            </a:r>
          </a:p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Logical error: program runs but produces the wrong result.</a:t>
            </a:r>
          </a:p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Debugging sequence: read error → locate line → inspect values → fix one issue → rerun.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508760"/>
            <a:ext cx="5486400" cy="4023360"/>
          </a:xfrm>
          <a:prstGeom prst="roundRect">
            <a:avLst/>
          </a:prstGeom>
          <a:solidFill>
            <a:srgbClr val="181F2A"/>
          </a:solidFill>
          <a:ln>
            <a:solidFill>
              <a:srgbClr val="18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62472" y="1581912"/>
            <a:ext cx="5157216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009691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2472" y="1856231"/>
            <a:ext cx="5157216" cy="3584448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# Bug: message labels are reversed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cell_count = 800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if cell_count &gt; 1000: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    print("Small design")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else: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    print("Large design")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# Fix the output labels, then rerun.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t>Debugging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669AA"/>
                </a:solidFill>
                <a:latin typeface="Aptos"/>
              </a:defRPr>
            </a:pPr>
            <a:r>
              <a:t>CODE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Is every if / elif / else line correctly formed?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Are colons present where required?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Is indentation consistent?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Are variable names spelled consistently?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Are comparisons using the intended operator?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Does the output match the expected logic?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t>Mini-project: IC design parameter checker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669AA"/>
                </a:solidFill>
                <a:latin typeface="Aptos"/>
              </a:defRPr>
            </a:pPr>
            <a:r>
              <a:t>HANDS-ON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98480" cy="438912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Time: 15 minutes, including testing.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Inputs: design name, cell count, clock frequency (MHz).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Use a function to display design information.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Use an if/else statement to classify design size.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Use a loop to process multiple design records.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Test at least one small design and one large design.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t>Mini-project: sample Python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669AA"/>
                </a:solidFill>
                <a:latin typeface="Aptos"/>
              </a:defRPr>
            </a:pPr>
            <a:r>
              <a:t>HANDS-ON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7406640" cy="4892040"/>
          </a:xfrm>
          <a:prstGeom prst="roundRect">
            <a:avLst/>
          </a:prstGeom>
          <a:solidFill>
            <a:srgbClr val="181F2A"/>
          </a:solidFill>
          <a:ln>
            <a:solidFill>
              <a:srgbClr val="18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399032"/>
            <a:ext cx="7077455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009691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673352"/>
            <a:ext cx="7077455" cy="4453127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rPr dirty="0"/>
              <a:t>def </a:t>
            </a:r>
            <a:r>
              <a:rPr dirty="0" err="1"/>
              <a:t>check_design</a:t>
            </a:r>
            <a:r>
              <a:rPr dirty="0"/>
              <a:t>(name, </a:t>
            </a:r>
            <a:r>
              <a:rPr dirty="0" err="1"/>
              <a:t>cell_count</a:t>
            </a:r>
            <a:r>
              <a:rPr dirty="0"/>
              <a:t>, </a:t>
            </a:r>
            <a:r>
              <a:rPr dirty="0" err="1"/>
              <a:t>clock_mhz</a:t>
            </a:r>
            <a:r>
              <a:rPr dirty="0"/>
              <a:t>):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rPr dirty="0"/>
              <a:t>    print("\\nDesign:", name)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rPr dirty="0"/>
              <a:t>    print("Cell count:", </a:t>
            </a:r>
            <a:r>
              <a:rPr dirty="0" err="1"/>
              <a:t>cell_count</a:t>
            </a:r>
            <a:r>
              <a:rPr dirty="0"/>
              <a:t>)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rPr dirty="0"/>
              <a:t>    print("Clock:", </a:t>
            </a:r>
            <a:r>
              <a:rPr dirty="0" err="1"/>
              <a:t>clock_mhz</a:t>
            </a:r>
            <a:r>
              <a:rPr dirty="0"/>
              <a:t>, "MHz")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rPr dirty="0"/>
              <a:t> 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rPr dirty="0"/>
              <a:t>    if </a:t>
            </a:r>
            <a:r>
              <a:rPr dirty="0" err="1"/>
              <a:t>cell_count</a:t>
            </a:r>
            <a:r>
              <a:rPr dirty="0"/>
              <a:t> &gt; 1000: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rPr dirty="0"/>
              <a:t>        print("Size: Large")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rPr dirty="0"/>
              <a:t>    else: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rPr dirty="0"/>
              <a:t>        print("Size: Small")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rPr dirty="0"/>
              <a:t> 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rPr dirty="0"/>
              <a:t>designs = [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rPr dirty="0"/>
              <a:t>    ("</a:t>
            </a:r>
            <a:r>
              <a:rPr dirty="0" err="1"/>
              <a:t>Block_A</a:t>
            </a:r>
            <a:r>
              <a:rPr dirty="0"/>
              <a:t>", 800, 400),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rPr dirty="0"/>
              <a:t>    ("</a:t>
            </a:r>
            <a:r>
              <a:rPr dirty="0" err="1"/>
              <a:t>Block_B</a:t>
            </a:r>
            <a:r>
              <a:rPr dirty="0"/>
              <a:t>", 1500, 500),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rPr dirty="0"/>
              <a:t>    ("</a:t>
            </a:r>
            <a:r>
              <a:rPr dirty="0" err="1"/>
              <a:t>Block_C</a:t>
            </a:r>
            <a:r>
              <a:rPr dirty="0"/>
              <a:t>", 600, 300)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rPr dirty="0"/>
              <a:t>]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rPr dirty="0"/>
              <a:t> 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rPr dirty="0"/>
              <a:t>for design in designs: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check_design</a:t>
            </a:r>
            <a:r>
              <a:rPr dirty="0"/>
              <a:t>(design[0], design[1], design[2])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828800"/>
            <a:ext cx="3200400" cy="347472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Trace each loop iteration.</a:t>
            </a:r>
          </a:p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Which record is classified as Large?</a:t>
            </a:r>
          </a:p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Change the threshold to 700.</a:t>
            </a:r>
          </a:p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Add a fourth design record.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t>Interpret the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669AA"/>
                </a:solidFill>
                <a:latin typeface="Aptos"/>
              </a:defRPr>
            </a:pPr>
            <a:r>
              <a:t>HANDS-ON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669280" cy="4480560"/>
          </a:xfrm>
          <a:prstGeom prst="roundRect">
            <a:avLst/>
          </a:prstGeom>
          <a:solidFill>
            <a:srgbClr val="181F2A"/>
          </a:solidFill>
          <a:ln>
            <a:solidFill>
              <a:srgbClr val="18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490472"/>
            <a:ext cx="5340096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009691"/>
                </a:solidFill>
                <a:latin typeface="Aptos"/>
              </a:defRPr>
            </a:pPr>
            <a:r>
              <a:t>EXPECTED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764792"/>
            <a:ext cx="5340096" cy="4041648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Design: Block_A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Cell count: 800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Clock: 400 MHz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Size: Small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Design: Block_B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Cell count: 1500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Clock: 500 MHz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Size: Large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Design: Block_C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Cell count: 600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Clock: 300 MHz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Size: Small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600200"/>
            <a:ext cx="4572000" cy="420624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The function keeps reporting logic in one place.</a:t>
            </a:r>
          </a:p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The loop applies the same check to every record.</a:t>
            </a:r>
          </a:p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The threshold is an example, not an engineering sign-off rule.</a:t>
            </a:r>
          </a:p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This script processes simulated values; it does not launch an EDA tool.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744"/>
                </a:solidFill>
                <a:latin typeface="Aptos"/>
              </a:defRPr>
            </a:pPr>
            <a:r>
              <a:t>Knowledge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669AA"/>
                </a:solidFill>
                <a:latin typeface="Aptos"/>
              </a:defRPr>
            </a:pPr>
            <a: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E7D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424160" cy="5241435"/>
          </a:xfrm>
          <a:prstGeom prst="rect">
            <a:avLst/>
          </a:prstGeom>
          <a:noFill/>
        </p:spPr>
        <p:txBody>
          <a:bodyPr wrap="square" lIns="91440" tIns="73152" rIns="91440" bIns="73152" anchor="t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rPr dirty="0"/>
              <a:t>1. What is the difference between int and float?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rPr dirty="0"/>
              <a:t>2. When would you use if/else instead of a loop?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rPr dirty="0"/>
              <a:t>3. Why package repeated logic into a function?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rPr dirty="0"/>
              <a:t>4. How does a syntax error differ from a logical error?</a:t>
            </a:r>
            <a:endParaRPr lang="en-US" dirty="0"/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rPr lang="en-US" b="1" u="sng" dirty="0"/>
              <a:t>Post Test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rPr lang="en-US" dirty="0">
                <a:hlinkClick r:id="rId2"/>
              </a:rPr>
              <a:t>https://forms.gle/1YCFTyUaU5KxamG27</a:t>
            </a:r>
            <a:endParaRPr lang="en-US" dirty="0"/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1555</Words>
  <Application>Microsoft Office PowerPoint</Application>
  <PresentationFormat>Widescreen</PresentationFormat>
  <Paragraphs>255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Arjuna Bin Marzuki</cp:lastModifiedBy>
  <cp:revision>41</cp:revision>
  <dcterms:created xsi:type="dcterms:W3CDTF">2013-01-27T09:14:16Z</dcterms:created>
  <dcterms:modified xsi:type="dcterms:W3CDTF">2026-10-26T02:11:49Z</dcterms:modified>
  <cp:category/>
</cp:coreProperties>
</file>